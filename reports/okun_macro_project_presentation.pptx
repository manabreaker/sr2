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064E6D9-15F1-4BC5-BB17-2129FFA9AD8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>
                <a:solidFill>
                  <a:srgbClr val="1D242C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>
                <a:solidFill>
                  <a:srgbClr val="5B6978"/>
                </a:solidFill>
                <a:latin typeface="Arial"/>
              </a:rPr>
              <a:t>Что было сделано в проекте и какие выводы получены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01</a:t>
            </a:r>
          </a:p>
        </p:txBody>
      </p:sp>
      <p:pic>
        <p:nvPicPr>
          <p:cNvPr id="7" name="Picture 6" descr="01_levels_us_macro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67444"/>
            <a:ext cx="5669280" cy="3328751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234440"/>
            <a:ext cx="5029200" cy="1828800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42C"/>
                </a:solidFill>
                <a:latin typeface="Arial"/>
              </a:defRPr>
            </a:pPr>
            <a:r>
              <a:t>Основная часть: США, связь роста ВВП, безработицы, инфляции и ставки.</a:t>
            </a:r>
          </a:p>
          <a:p>
            <a:pPr>
              <a:spcAft>
                <a:spcPts val="600"/>
              </a:spcAft>
              <a:defRPr sz="1500">
                <a:solidFill>
                  <a:srgbClr val="1D242C"/>
                </a:solidFill>
                <a:latin typeface="Arial"/>
              </a:defRPr>
            </a:pPr>
            <a:r>
              <a:t>Методы: ADF/KPSS, ACF/PACF, ADL, VAR, Granger, IRF/FEVD, VECM/ECM.</a:t>
            </a:r>
          </a:p>
          <a:p>
            <a:pPr>
              <a:spcAft>
                <a:spcPts val="600"/>
              </a:spcAft>
              <a:defRPr sz="1500">
                <a:solidFill>
                  <a:srgbClr val="1D242C"/>
                </a:solidFill>
                <a:latin typeface="Arial"/>
              </a:defRPr>
            </a:pPr>
            <a:r>
              <a:t>Дополнение: кластеризация 22 стран по динамике макропоказателей.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657600"/>
            <a:ext cx="155448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r>
              <a:rPr sz="1900" b="1" dirty="0">
                <a:solidFill>
                  <a:srgbClr val="16547E"/>
                </a:solidFill>
                <a:latin typeface="Arial"/>
              </a:rPr>
              <a:t>145</a:t>
            </a:r>
          </a:p>
          <a:p>
            <a:pPr algn="ctr">
              <a:defRPr sz="850">
                <a:solidFill>
                  <a:srgbClr val="5B6978"/>
                </a:solidFill>
                <a:latin typeface="Arial"/>
              </a:defRPr>
            </a:pPr>
            <a:r>
              <a:rPr dirty="0" err="1"/>
              <a:t>квартальных</a:t>
            </a:r>
            <a:r>
              <a:rPr dirty="0"/>
              <a:t> </a:t>
            </a:r>
            <a:r>
              <a:rPr dirty="0" err="1"/>
              <a:t>наблюдений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2423160" y="3657600"/>
            <a:ext cx="137160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r>
              <a:rPr sz="1900" b="1" dirty="0">
                <a:solidFill>
                  <a:srgbClr val="CC5C29"/>
                </a:solidFill>
                <a:latin typeface="Arial"/>
              </a:rPr>
              <a:t>4</a:t>
            </a:r>
          </a:p>
          <a:p>
            <a:pPr algn="ctr">
              <a:defRPr sz="850">
                <a:solidFill>
                  <a:srgbClr val="5B6978"/>
                </a:solidFill>
                <a:latin typeface="Arial"/>
              </a:defRPr>
            </a:pPr>
            <a:r>
              <a:rPr dirty="0" err="1"/>
              <a:t>показателя</a:t>
            </a:r>
            <a:r>
              <a:rPr dirty="0"/>
              <a:t> FRED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3657600"/>
            <a:ext cx="150876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r>
              <a:rPr sz="1900" b="1" dirty="0">
                <a:solidFill>
                  <a:srgbClr val="16547E"/>
                </a:solidFill>
                <a:latin typeface="Arial"/>
              </a:rPr>
              <a:t>22</a:t>
            </a:r>
          </a:p>
          <a:p>
            <a:pPr algn="ctr">
              <a:defRPr sz="850">
                <a:solidFill>
                  <a:srgbClr val="5B6978"/>
                </a:solidFill>
                <a:latin typeface="Arial"/>
              </a:defRPr>
            </a:pPr>
            <a:r>
              <a:rPr dirty="0" err="1"/>
              <a:t>страны</a:t>
            </a:r>
            <a:r>
              <a:rPr dirty="0"/>
              <a:t> World Bank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>
                <a:solidFill>
                  <a:srgbClr val="1D242C"/>
                </a:solidFill>
                <a:latin typeface="Arial"/>
              </a:rPr>
              <a:t>1. Данные: исходные уровни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>
                <a:solidFill>
                  <a:srgbClr val="5B6978"/>
                </a:solidFill>
                <a:latin typeface="Arial"/>
              </a:rPr>
              <a:t>США, FRED, 1990Q1-2026Q1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452360" cy="51663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1_levels_us_macro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511319"/>
            <a:ext cx="7232904" cy="4246842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75320" y="1234440"/>
            <a:ext cx="3246120" cy="2468880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1400" b="1" dirty="0" err="1">
                <a:solidFill>
                  <a:srgbClr val="16547E"/>
                </a:solidFill>
                <a:latin typeface="Arial"/>
              </a:rPr>
              <a:t>Что</a:t>
            </a:r>
            <a:r>
              <a:rPr sz="1400" b="1" dirty="0">
                <a:solidFill>
                  <a:srgbClr val="16547E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6547E"/>
                </a:solidFill>
                <a:latin typeface="Arial"/>
              </a:rPr>
              <a:t>показываем</a:t>
            </a:r>
            <a:endParaRPr sz="1400" b="1" dirty="0">
              <a:solidFill>
                <a:srgbClr val="16547E"/>
              </a:solidFill>
              <a:latin typeface="Arial"/>
            </a:endParaRP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rPr dirty="0"/>
              <a:t>ВВП </a:t>
            </a:r>
            <a:r>
              <a:rPr dirty="0" err="1"/>
              <a:t>взят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квартальный</a:t>
            </a:r>
            <a:r>
              <a:rPr dirty="0"/>
              <a:t> </a:t>
            </a:r>
            <a:r>
              <a:rPr dirty="0" err="1"/>
              <a:t>ряд</a:t>
            </a:r>
            <a:r>
              <a:rPr dirty="0"/>
              <a:t> GDPC1.</a:t>
            </a: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rPr dirty="0" err="1"/>
              <a:t>Безработица</a:t>
            </a:r>
            <a:r>
              <a:rPr dirty="0"/>
              <a:t>, CPI и Fed Funds </a:t>
            </a:r>
            <a:r>
              <a:rPr dirty="0" err="1"/>
              <a:t>усреднены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месячных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кварталов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rPr dirty="0"/>
              <a:t>В </a:t>
            </a:r>
            <a:r>
              <a:rPr dirty="0" err="1"/>
              <a:t>уровнях</a:t>
            </a:r>
            <a:r>
              <a:rPr dirty="0"/>
              <a:t> </a:t>
            </a:r>
            <a:r>
              <a:rPr dirty="0" err="1"/>
              <a:t>заметны</a:t>
            </a:r>
            <a:r>
              <a:rPr dirty="0"/>
              <a:t> </a:t>
            </a:r>
            <a:r>
              <a:rPr dirty="0" err="1"/>
              <a:t>тренды</a:t>
            </a:r>
            <a:r>
              <a:rPr dirty="0"/>
              <a:t>, </a:t>
            </a:r>
            <a:r>
              <a:rPr dirty="0" err="1"/>
              <a:t>кризисные</a:t>
            </a:r>
            <a:r>
              <a:rPr dirty="0"/>
              <a:t> </a:t>
            </a:r>
            <a:r>
              <a:rPr dirty="0" err="1"/>
              <a:t>разрывы</a:t>
            </a:r>
            <a:r>
              <a:rPr dirty="0"/>
              <a:t> и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масштабы</a:t>
            </a:r>
            <a:r>
              <a:rPr dirty="0"/>
              <a:t> </a:t>
            </a:r>
            <a:r>
              <a:rPr dirty="0" err="1"/>
              <a:t>измерения</a:t>
            </a:r>
            <a:r>
              <a:rPr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3593592"/>
            <a:ext cx="3429000" cy="2468880"/>
          </a:xfrm>
          <a:prstGeom prst="rect">
            <a:avLst/>
          </a:prstGeom>
          <a:solidFill>
            <a:srgbClr val="FFFCF6"/>
          </a:solidFill>
          <a:ln w="7620">
            <a:solidFill>
              <a:srgbClr val="EED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64008" rIns="128016" rtlCol="0" anchor="ctr"/>
          <a:lstStyle/>
          <a:p>
            <a:pPr algn="ctr"/>
            <a:r>
              <a:rPr sz="1100" b="1">
                <a:solidFill>
                  <a:srgbClr val="CC5C29"/>
                </a:solidFill>
                <a:latin typeface="Arial"/>
              </a:rPr>
              <a:t>Перед моделированием уровни нужно привести к сопоставимым и стационарным рядам.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>
                <a:solidFill>
                  <a:srgbClr val="1D242C"/>
                </a:solidFill>
                <a:latin typeface="Arial"/>
              </a:rPr>
              <a:t>2. Подготовка рядов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588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 dirty="0" err="1">
                <a:solidFill>
                  <a:srgbClr val="5B6978"/>
                </a:solidFill>
                <a:latin typeface="Arial"/>
              </a:rPr>
              <a:t>Переход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от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уровней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к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динамике</a:t>
            </a:r>
            <a:endParaRPr sz="1000" b="0" dirty="0">
              <a:solidFill>
                <a:srgbClr val="5B6978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7543800" cy="5285232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2_stationary_transformations_growth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80888"/>
            <a:ext cx="7324344" cy="4298560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321040" y="1234440"/>
            <a:ext cx="3200400" cy="3154680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1400" b="1">
                <a:solidFill>
                  <a:srgbClr val="16547E"/>
                </a:solidFill>
                <a:latin typeface="Arial"/>
              </a:rPr>
              <a:t>Преобразования</a:t>
            </a: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t>ВВП: квартальный темп роста в годовом выражении.</a:t>
            </a: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t>Безработица: квартальное изменение уровня.</a:t>
            </a: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t>CPI: инфляция; ставка: квартальное изменение.</a:t>
            </a: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t>Так сохраняется экономический смысл и снижается риск ложной регрессии.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4142232"/>
            <a:ext cx="3337560" cy="1554480"/>
          </a:xfrm>
          <a:prstGeom prst="rect">
            <a:avLst/>
          </a:prstGeom>
          <a:solidFill>
            <a:srgbClr val="FFFCF6"/>
          </a:solidFill>
          <a:ln w="7620">
            <a:solidFill>
              <a:srgbClr val="EED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64008" rIns="128016" rtlCol="0" anchor="ctr"/>
          <a:lstStyle/>
          <a:p>
            <a:pPr algn="ctr"/>
            <a:r>
              <a:rPr sz="1100" b="1">
                <a:solidFill>
                  <a:srgbClr val="CC5C29"/>
                </a:solidFill>
                <a:latin typeface="Arial"/>
              </a:rPr>
              <a:t>Модели ADL и VAR строятся не на исходных уровнях, а на динамических показателях.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>
                <a:solidFill>
                  <a:srgbClr val="1D242C"/>
                </a:solidFill>
                <a:latin typeface="Arial"/>
              </a:rPr>
              <a:t>3. Стационарность и автокорреляция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 dirty="0" err="1">
                <a:solidFill>
                  <a:srgbClr val="5B6978"/>
                </a:solidFill>
                <a:latin typeface="Arial"/>
              </a:rPr>
              <a:t>Диагностика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перед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выбором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модели</a:t>
            </a:r>
            <a:endParaRPr sz="1000" b="0" dirty="0">
              <a:solidFill>
                <a:srgbClr val="5B6978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6949440" cy="5349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4_acf_pacf_stationary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847" y="1069848"/>
            <a:ext cx="6144466" cy="5129784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26679" y="960120"/>
            <a:ext cx="37033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lc_01_station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07" y="1563205"/>
            <a:ext cx="3483864" cy="1244422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891271" y="3374136"/>
            <a:ext cx="3374136" cy="201168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ADF/KPSS: расчетная проверка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977639"/>
            <a:ext cx="3611880" cy="1325880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D242C"/>
                </a:solidFill>
                <a:latin typeface="Arial"/>
              </a:defRPr>
            </a:pPr>
            <a:r>
              <a:t>ADF/KPSS подтверждают необходимость преобразований.</a:t>
            </a:r>
          </a:p>
          <a:p>
            <a:pPr>
              <a:spcAft>
                <a:spcPts val="600"/>
              </a:spcAft>
              <a:defRPr sz="1200">
                <a:solidFill>
                  <a:srgbClr val="1D242C"/>
                </a:solidFill>
                <a:latin typeface="Arial"/>
              </a:defRPr>
            </a:pPr>
            <a:r>
              <a:t>ACF/PACF помогают выбрать лаговую структуру.</a:t>
            </a:r>
          </a:p>
          <a:p>
            <a:pPr>
              <a:spcAft>
                <a:spcPts val="600"/>
              </a:spcAft>
              <a:defRPr sz="1200">
                <a:solidFill>
                  <a:srgbClr val="1D242C"/>
                </a:solidFill>
                <a:latin typeface="Arial"/>
              </a:defRPr>
            </a:pPr>
            <a:r>
              <a:t>Для ставки видна более сильная инерционность.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19" y="5294795"/>
            <a:ext cx="3630167" cy="977988"/>
          </a:xfrm>
          <a:prstGeom prst="rect">
            <a:avLst/>
          </a:prstGeom>
          <a:solidFill>
            <a:srgbClr val="FFFCF6"/>
          </a:solidFill>
          <a:ln w="7620">
            <a:solidFill>
              <a:srgbClr val="EED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64008" rIns="128016" rtlCol="0" anchor="ctr"/>
          <a:lstStyle/>
          <a:p>
            <a:pPr algn="ctr"/>
            <a:r>
              <a:rPr sz="1100" b="1" dirty="0" err="1">
                <a:solidFill>
                  <a:srgbClr val="CC5C29"/>
                </a:solidFill>
                <a:latin typeface="Arial"/>
              </a:rPr>
              <a:t>Диагностика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задает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ограничения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: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нельзя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просто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регрессировать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трендовые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уровни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друг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на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друга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>
                <a:solidFill>
                  <a:srgbClr val="1D242C"/>
                </a:solidFill>
                <a:latin typeface="Arial"/>
              </a:rPr>
              <a:t>4. Закон Оукена: первичная связь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22376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>
                <a:solidFill>
                  <a:srgbClr val="5B6978"/>
                </a:solidFill>
                <a:latin typeface="Arial"/>
              </a:rPr>
              <a:t>Рост ВВП против изменения безработицы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60120"/>
            <a:ext cx="6400800" cy="4864608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3_okun_scatter_gdp_growth_unemployment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606411"/>
            <a:ext cx="6181344" cy="4056657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406640" y="1325880"/>
            <a:ext cx="3749039" cy="1965960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1500" b="1" dirty="0" err="1">
                <a:solidFill>
                  <a:srgbClr val="16547E"/>
                </a:solidFill>
                <a:latin typeface="Arial"/>
              </a:rPr>
              <a:t>Интерпретация</a:t>
            </a:r>
            <a:endParaRPr sz="1500" b="1" dirty="0">
              <a:solidFill>
                <a:srgbClr val="16547E"/>
              </a:solidFill>
              <a:latin typeface="Arial"/>
            </a:endParaRPr>
          </a:p>
          <a:p>
            <a:pPr>
              <a:spcAft>
                <a:spcPts val="600"/>
              </a:spcAft>
              <a:defRPr sz="1400">
                <a:solidFill>
                  <a:srgbClr val="1D242C"/>
                </a:solidFill>
                <a:latin typeface="Arial"/>
              </a:defRPr>
            </a:pP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отрицательная</a:t>
            </a:r>
            <a:r>
              <a:rPr dirty="0"/>
              <a:t>: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ускорении</a:t>
            </a:r>
            <a:r>
              <a:rPr dirty="0"/>
              <a:t> </a:t>
            </a:r>
            <a:r>
              <a:rPr dirty="0" err="1"/>
              <a:t>выпуска</a:t>
            </a:r>
            <a:r>
              <a:rPr dirty="0"/>
              <a:t> </a:t>
            </a:r>
            <a:r>
              <a:rPr dirty="0" err="1"/>
              <a:t>безработица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растет</a:t>
            </a:r>
            <a:r>
              <a:rPr dirty="0"/>
              <a:t> </a:t>
            </a:r>
            <a:r>
              <a:rPr dirty="0" err="1"/>
              <a:t>слабее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снижается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400">
                <a:solidFill>
                  <a:srgbClr val="1D242C"/>
                </a:solidFill>
                <a:latin typeface="Arial"/>
              </a:defRPr>
            </a:pPr>
            <a:r>
              <a:rPr dirty="0"/>
              <a:t>COVID-</a:t>
            </a:r>
            <a:r>
              <a:rPr dirty="0" err="1"/>
              <a:t>кварталы</a:t>
            </a:r>
            <a:r>
              <a:rPr dirty="0"/>
              <a:t> </a:t>
            </a:r>
            <a:r>
              <a:rPr dirty="0" err="1"/>
              <a:t>дают</a:t>
            </a:r>
            <a:r>
              <a:rPr dirty="0"/>
              <a:t> </a:t>
            </a:r>
            <a:r>
              <a:rPr dirty="0" err="1"/>
              <a:t>экстремальные</a:t>
            </a:r>
            <a:r>
              <a:rPr dirty="0"/>
              <a:t> </a:t>
            </a:r>
            <a:r>
              <a:rPr dirty="0" err="1"/>
              <a:t>наблюдения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400">
                <a:solidFill>
                  <a:srgbClr val="1D242C"/>
                </a:solidFill>
                <a:latin typeface="Arial"/>
              </a:defRPr>
            </a:pP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дальше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проверяется</a:t>
            </a:r>
            <a:r>
              <a:rPr dirty="0"/>
              <a:t> в ADL и VAR,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scatter plot.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3566160"/>
            <a:ext cx="201168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r>
              <a:rPr sz="1900" b="1" dirty="0">
                <a:solidFill>
                  <a:srgbClr val="CC5C29"/>
                </a:solidFill>
                <a:latin typeface="Arial"/>
              </a:rPr>
              <a:t>-0.106</a:t>
            </a:r>
          </a:p>
          <a:p>
            <a:pPr>
              <a:defRPr sz="850">
                <a:solidFill>
                  <a:srgbClr val="5B6978"/>
                </a:solidFill>
                <a:latin typeface="Arial"/>
              </a:defRPr>
            </a:pPr>
            <a:r>
              <a:rPr dirty="0" err="1"/>
              <a:t>коэффициент</a:t>
            </a:r>
            <a:r>
              <a:rPr dirty="0"/>
              <a:t> ADL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роста</a:t>
            </a:r>
            <a:r>
              <a:rPr dirty="0"/>
              <a:t> ВВП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3566160"/>
            <a:ext cx="132588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r>
              <a:rPr sz="1900" b="1">
                <a:solidFill>
                  <a:srgbClr val="16547E"/>
                </a:solidFill>
                <a:latin typeface="Arial"/>
              </a:rPr>
              <a:t>&lt;0.001</a:t>
            </a:r>
          </a:p>
          <a:p>
            <a:pPr>
              <a:defRPr sz="850">
                <a:solidFill>
                  <a:srgbClr val="5B6978"/>
                </a:solidFill>
                <a:latin typeface="Arial"/>
              </a:defRPr>
            </a:pPr>
            <a:r>
              <a:t>p-value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39" y="4709160"/>
            <a:ext cx="3749039" cy="1389888"/>
          </a:xfrm>
          <a:prstGeom prst="rect">
            <a:avLst/>
          </a:prstGeom>
          <a:solidFill>
            <a:srgbClr val="FFFCF6"/>
          </a:solidFill>
          <a:ln w="7620">
            <a:solidFill>
              <a:srgbClr val="EED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64008" rIns="128016" rtlCol="0" anchor="ctr"/>
          <a:lstStyle/>
          <a:p>
            <a:pPr algn="ctr"/>
            <a:r>
              <a:rPr sz="1100" b="1" dirty="0">
                <a:solidFill>
                  <a:srgbClr val="CC5C29"/>
                </a:solidFill>
                <a:latin typeface="Arial"/>
              </a:rPr>
              <a:t>Гипотеза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закона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Оукена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подтверждается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по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знаку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,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но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сила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связи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зависит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от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кризисных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наблюдений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>
                <a:solidFill>
                  <a:srgbClr val="1D242C"/>
                </a:solidFill>
                <a:latin typeface="Arial"/>
              </a:rPr>
              <a:t>5. ADL-модель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>
                <a:solidFill>
                  <a:srgbClr val="5B6978"/>
                </a:solidFill>
                <a:latin typeface="Arial"/>
              </a:rPr>
              <a:t>Краткосрочная зависимость изменения безработицы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06</a:t>
            </a:r>
          </a:p>
        </p:txBody>
      </p:sp>
      <p:pic>
        <p:nvPicPr>
          <p:cNvPr id="8" name="Picture 7" descr="calc_02_adl_var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3" y="1225296"/>
            <a:ext cx="8221898" cy="4846320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3223" y="5870448"/>
            <a:ext cx="6300216" cy="201168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800" b="0" dirty="0" err="1">
                <a:solidFill>
                  <a:srgbClr val="5B6978"/>
                </a:solidFill>
                <a:latin typeface="Arial"/>
              </a:rPr>
              <a:t>Расчеты</a:t>
            </a:r>
            <a:r>
              <a:rPr sz="800" b="0" dirty="0">
                <a:solidFill>
                  <a:srgbClr val="5B6978"/>
                </a:solidFill>
                <a:latin typeface="Arial"/>
              </a:rPr>
              <a:t> ADL, VAR и </a:t>
            </a:r>
            <a:r>
              <a:rPr sz="800" b="0" dirty="0" err="1">
                <a:solidFill>
                  <a:srgbClr val="5B6978"/>
                </a:solidFill>
                <a:latin typeface="Arial"/>
              </a:rPr>
              <a:t>причинности</a:t>
            </a:r>
            <a:endParaRPr sz="800" b="0" dirty="0">
              <a:solidFill>
                <a:srgbClr val="5B6978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98041" y="1225296"/>
            <a:ext cx="3589741" cy="1764792"/>
          </a:xfrm>
          <a:prstGeom prst="rect">
            <a:avLst/>
          </a:prstGeom>
          <a:noFill/>
        </p:spPr>
        <p:txBody>
          <a:bodyPr wrap="square" lIns="73152" tIns="36576" rIns="73152" bIns="18288">
            <a:normAutofit lnSpcReduction="10000"/>
          </a:bodyPr>
          <a:lstStyle/>
          <a:p>
            <a:r>
              <a:rPr lang="ru-RU" sz="1400" b="1" dirty="0">
                <a:solidFill>
                  <a:srgbClr val="16547E"/>
                </a:solidFill>
                <a:latin typeface="Arial"/>
              </a:rPr>
              <a:t>Выбор модели:</a:t>
            </a:r>
            <a:endParaRPr sz="1400" b="1" dirty="0">
              <a:solidFill>
                <a:srgbClr val="16547E"/>
              </a:solidFill>
              <a:latin typeface="Arial"/>
            </a:endParaRP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rPr dirty="0" err="1"/>
              <a:t>Выбрана</a:t>
            </a:r>
            <a:r>
              <a:rPr dirty="0"/>
              <a:t> ADL-3: </a:t>
            </a:r>
            <a:r>
              <a:rPr dirty="0" err="1"/>
              <a:t>текущий</a:t>
            </a:r>
            <a:r>
              <a:rPr dirty="0"/>
              <a:t> и </a:t>
            </a:r>
            <a:r>
              <a:rPr dirty="0" err="1"/>
              <a:t>лаговые</a:t>
            </a:r>
            <a:r>
              <a:rPr dirty="0"/>
              <a:t> </a:t>
            </a:r>
            <a:r>
              <a:rPr dirty="0" err="1"/>
              <a:t>темпы</a:t>
            </a:r>
            <a:r>
              <a:rPr dirty="0"/>
              <a:t> </a:t>
            </a:r>
            <a:r>
              <a:rPr dirty="0" err="1"/>
              <a:t>роста</a:t>
            </a:r>
            <a:r>
              <a:rPr dirty="0"/>
              <a:t> ВВП, </a:t>
            </a:r>
            <a:r>
              <a:rPr dirty="0" err="1"/>
              <a:t>лаг</a:t>
            </a:r>
            <a:r>
              <a:rPr dirty="0"/>
              <a:t> </a:t>
            </a:r>
            <a:r>
              <a:rPr dirty="0" err="1"/>
              <a:t>безработицы</a:t>
            </a:r>
            <a:r>
              <a:rPr dirty="0"/>
              <a:t>, dummy 2020Q2.</a:t>
            </a: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rPr dirty="0"/>
              <a:t>Adj.R² = 0.880, RMSE = 0.310: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базовых</a:t>
            </a:r>
            <a:r>
              <a:rPr dirty="0"/>
              <a:t> </a:t>
            </a:r>
            <a:r>
              <a:rPr dirty="0" err="1"/>
              <a:t>спецификаций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rPr dirty="0"/>
              <a:t>Dummy 2020Q2 </a:t>
            </a:r>
            <a:r>
              <a:rPr dirty="0" err="1"/>
              <a:t>значима</a:t>
            </a:r>
            <a:r>
              <a:rPr dirty="0"/>
              <a:t>: </a:t>
            </a:r>
            <a:r>
              <a:rPr dirty="0" err="1"/>
              <a:t>пандемический</a:t>
            </a:r>
            <a:r>
              <a:rPr dirty="0"/>
              <a:t> </a:t>
            </a:r>
            <a:r>
              <a:rPr dirty="0" err="1"/>
              <a:t>шок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считать</a:t>
            </a:r>
            <a:r>
              <a:rPr dirty="0"/>
              <a:t> </a:t>
            </a:r>
            <a:r>
              <a:rPr dirty="0" err="1"/>
              <a:t>обычным</a:t>
            </a:r>
            <a:r>
              <a:rPr dirty="0"/>
              <a:t> </a:t>
            </a:r>
            <a:r>
              <a:rPr dirty="0" err="1"/>
              <a:t>наблюдением</a:t>
            </a:r>
            <a:r>
              <a:rPr dirty="0"/>
              <a:t>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055904"/>
              </p:ext>
            </p:extLst>
          </p:nvPr>
        </p:nvGraphicFramePr>
        <p:xfrm>
          <a:off x="8408373" y="3273552"/>
          <a:ext cx="358974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rPr dirty="0"/>
                        <a:t>Модель</a:t>
                      </a:r>
                    </a:p>
                  </a:txBody>
                  <a:tcPr marL="45720" marR="45720" marT="27432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Adj.R²</a:t>
                      </a:r>
                    </a:p>
                  </a:txBody>
                  <a:tcPr marL="45720" marR="45720" marT="27432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rPr dirty="0"/>
                        <a:t>RMSE</a:t>
                      </a:r>
                    </a:p>
                  </a:txBody>
                  <a:tcPr marL="45720" marR="45720" marT="27432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Выбор</a:t>
                      </a:r>
                    </a:p>
                  </a:txBody>
                  <a:tcPr marL="45720" marR="45720" marT="27432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ADL-1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rPr dirty="0"/>
                        <a:t>0.738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0.460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ADL-2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0.764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0.435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rPr dirty="0"/>
                        <a:t>ADL-3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0.880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0.310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rPr dirty="0" err="1"/>
                        <a:t>да</a:t>
                      </a:r>
                      <a:endParaRPr dirty="0"/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398041" y="4846320"/>
            <a:ext cx="3579408" cy="1610360"/>
          </a:xfrm>
          <a:prstGeom prst="rect">
            <a:avLst/>
          </a:prstGeom>
          <a:solidFill>
            <a:srgbClr val="FFFCF6"/>
          </a:solidFill>
          <a:ln w="7620">
            <a:solidFill>
              <a:srgbClr val="EED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64008" rIns="128016" rtlCol="0" anchor="ctr"/>
          <a:lstStyle/>
          <a:p>
            <a:pPr algn="ctr"/>
            <a:r>
              <a:rPr sz="1100" b="1">
                <a:solidFill>
                  <a:srgbClr val="CC5C29"/>
                </a:solidFill>
                <a:latin typeface="Arial"/>
              </a:rPr>
              <a:t>ADL дает удобную оценку краткосрочной связи, но остатки требуют осторожной интерпретации.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>
                <a:solidFill>
                  <a:srgbClr val="1D242C"/>
                </a:solidFill>
                <a:latin typeface="Arial"/>
              </a:rPr>
              <a:t>6. VAR и причинность по Грейнджеру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5584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>
                <a:solidFill>
                  <a:srgbClr val="5B6978"/>
                </a:solidFill>
                <a:latin typeface="Arial"/>
              </a:rPr>
              <a:t>Система взаимосвязанных рядов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60120"/>
            <a:ext cx="466344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6_granger_causality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632701"/>
            <a:ext cx="4443984" cy="3912638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5577840" y="960120"/>
            <a:ext cx="5715000" cy="352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9_model_residual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872" y="1019556"/>
            <a:ext cx="5236368" cy="3351276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577840" y="4323080"/>
            <a:ext cx="5385816" cy="201168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800" b="0" dirty="0" err="1">
                <a:solidFill>
                  <a:srgbClr val="5B6978"/>
                </a:solidFill>
                <a:latin typeface="Arial"/>
              </a:rPr>
              <a:t>Диагностика</a:t>
            </a:r>
            <a:r>
              <a:rPr sz="8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5B6978"/>
                </a:solidFill>
                <a:latin typeface="Arial"/>
              </a:rPr>
              <a:t>остатков</a:t>
            </a:r>
            <a:endParaRPr sz="800" b="0" dirty="0">
              <a:solidFill>
                <a:srgbClr val="5B6978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0" y="4646168"/>
            <a:ext cx="2606040" cy="1874520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D242C"/>
                </a:solidFill>
                <a:latin typeface="Arial"/>
              </a:defRPr>
            </a:pPr>
            <a:r>
              <a:rPr dirty="0"/>
              <a:t>VAR(1) </a:t>
            </a:r>
            <a:r>
              <a:rPr dirty="0" err="1"/>
              <a:t>выбрана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AIC и </a:t>
            </a:r>
            <a:r>
              <a:rPr dirty="0" err="1"/>
              <a:t>устойчивости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D242C"/>
                </a:solidFill>
                <a:latin typeface="Arial"/>
              </a:defRPr>
            </a:pP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двусторонняя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Грейнджера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ростом</a:t>
            </a:r>
            <a:r>
              <a:rPr dirty="0"/>
              <a:t> ВВП и </a:t>
            </a:r>
            <a:r>
              <a:rPr dirty="0" err="1"/>
              <a:t>изменением</a:t>
            </a:r>
            <a:r>
              <a:rPr dirty="0"/>
              <a:t> </a:t>
            </a:r>
            <a:r>
              <a:rPr dirty="0" err="1"/>
              <a:t>безработицы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1D242C"/>
                </a:solidFill>
                <a:latin typeface="Arial"/>
              </a:defRPr>
            </a:pPr>
            <a:r>
              <a:rPr dirty="0" err="1"/>
              <a:t>Инфляция</a:t>
            </a:r>
            <a:r>
              <a:rPr dirty="0"/>
              <a:t> и </a:t>
            </a:r>
            <a:r>
              <a:rPr dirty="0" err="1"/>
              <a:t>ставка</a:t>
            </a:r>
            <a:r>
              <a:rPr dirty="0"/>
              <a:t> </a:t>
            </a:r>
            <a:r>
              <a:rPr dirty="0" err="1"/>
              <a:t>играют</a:t>
            </a:r>
            <a:r>
              <a:rPr dirty="0"/>
              <a:t> </a:t>
            </a:r>
            <a:r>
              <a:rPr dirty="0" err="1"/>
              <a:t>меньшую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в </a:t>
            </a:r>
            <a:r>
              <a:rPr dirty="0" err="1"/>
              <a:t>уравнении</a:t>
            </a:r>
            <a:r>
              <a:rPr dirty="0"/>
              <a:t> </a:t>
            </a:r>
            <a:r>
              <a:rPr dirty="0" err="1"/>
              <a:t>безработицы</a:t>
            </a:r>
            <a:r>
              <a:rPr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30768" y="4655312"/>
            <a:ext cx="2862072" cy="1143000"/>
          </a:xfrm>
          <a:prstGeom prst="rect">
            <a:avLst/>
          </a:prstGeom>
          <a:solidFill>
            <a:srgbClr val="FFFCF6"/>
          </a:solidFill>
          <a:ln w="7620">
            <a:solidFill>
              <a:srgbClr val="EED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64008" rIns="128016" rtlCol="0" anchor="ctr"/>
          <a:lstStyle/>
          <a:p>
            <a:pPr algn="ctr"/>
            <a:r>
              <a:rPr sz="1100" b="1" dirty="0">
                <a:solidFill>
                  <a:srgbClr val="CC5C29"/>
                </a:solidFill>
                <a:latin typeface="Arial"/>
              </a:rPr>
              <a:t>VAR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показывает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не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только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связь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показателей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,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но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и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направление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прогнозной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информативности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 dirty="0">
                <a:solidFill>
                  <a:srgbClr val="1D242C"/>
                </a:solidFill>
                <a:latin typeface="Arial"/>
              </a:rPr>
              <a:t>7. IRF и FEVD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26948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>
                <a:solidFill>
                  <a:srgbClr val="5B6978"/>
                </a:solidFill>
                <a:latin typeface="Arial"/>
              </a:rPr>
              <a:t>Как шоки объясняют динамику безработицы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5623560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7_var_irf_unemployment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84834"/>
            <a:ext cx="5404104" cy="3247084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58952" y="5020056"/>
            <a:ext cx="5294376" cy="201168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Импульсный отклик Δu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960120"/>
            <a:ext cx="5303520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8_var_fevd_unemployment_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457773"/>
            <a:ext cx="5084064" cy="3101205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519672" y="5020056"/>
            <a:ext cx="4974336" cy="201168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Разложение дисперсии FEVD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449824"/>
            <a:ext cx="10652760" cy="640080"/>
          </a:xfrm>
          <a:prstGeom prst="rect">
            <a:avLst/>
          </a:prstGeom>
          <a:noFill/>
        </p:spPr>
        <p:txBody>
          <a:bodyPr wrap="square" lIns="73152" tIns="36576" rIns="73152" bIns="18288">
            <a:normAutofit fontScale="92500" lnSpcReduction="10000"/>
          </a:bodyPr>
          <a:lstStyle/>
          <a:p>
            <a:pPr>
              <a:spcAft>
                <a:spcPts val="600"/>
              </a:spcAft>
              <a:defRPr sz="1100">
                <a:solidFill>
                  <a:srgbClr val="1D242C"/>
                </a:solidFill>
                <a:latin typeface="Arial"/>
              </a:defRPr>
            </a:pPr>
            <a:r>
              <a:rPr dirty="0" err="1"/>
              <a:t>Положительный</a:t>
            </a:r>
            <a:r>
              <a:rPr dirty="0"/>
              <a:t> </a:t>
            </a:r>
            <a:r>
              <a:rPr dirty="0" err="1"/>
              <a:t>шок</a:t>
            </a:r>
            <a:r>
              <a:rPr dirty="0"/>
              <a:t> </a:t>
            </a:r>
            <a:r>
              <a:rPr dirty="0" err="1"/>
              <a:t>роста</a:t>
            </a:r>
            <a:r>
              <a:rPr dirty="0"/>
              <a:t> ВВП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прирост</a:t>
            </a:r>
            <a:r>
              <a:rPr dirty="0"/>
              <a:t> </a:t>
            </a:r>
            <a:r>
              <a:rPr dirty="0" err="1"/>
              <a:t>безработицы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00">
                <a:solidFill>
                  <a:srgbClr val="1D242C"/>
                </a:solidFill>
                <a:latin typeface="Arial"/>
              </a:defRPr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горизонтах</a:t>
            </a:r>
            <a:r>
              <a:rPr dirty="0"/>
              <a:t> </a:t>
            </a:r>
            <a:r>
              <a:rPr lang="ru-RU" dirty="0"/>
              <a:t>4</a:t>
            </a:r>
            <a:r>
              <a:rPr dirty="0"/>
              <a:t>-12 </a:t>
            </a:r>
            <a:r>
              <a:rPr dirty="0" err="1"/>
              <a:t>кварталов</a:t>
            </a:r>
            <a:r>
              <a:rPr dirty="0"/>
              <a:t> </a:t>
            </a:r>
            <a:r>
              <a:rPr dirty="0" err="1"/>
              <a:t>около</a:t>
            </a:r>
            <a:r>
              <a:rPr dirty="0"/>
              <a:t> 61%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прогноза</a:t>
            </a:r>
            <a:r>
              <a:rPr dirty="0"/>
              <a:t> </a:t>
            </a:r>
            <a:r>
              <a:rPr dirty="0" err="1"/>
              <a:t>Δu</a:t>
            </a:r>
            <a:r>
              <a:rPr dirty="0"/>
              <a:t> </a:t>
            </a:r>
            <a:r>
              <a:rPr dirty="0" err="1"/>
              <a:t>связано</a:t>
            </a:r>
            <a:r>
              <a:rPr dirty="0"/>
              <a:t> с </a:t>
            </a:r>
            <a:r>
              <a:rPr dirty="0" err="1"/>
              <a:t>шоками</a:t>
            </a:r>
            <a:r>
              <a:rPr dirty="0"/>
              <a:t> </a:t>
            </a:r>
            <a:r>
              <a:rPr dirty="0" err="1"/>
              <a:t>выпуска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00">
                <a:solidFill>
                  <a:srgbClr val="1D242C"/>
                </a:solidFill>
                <a:latin typeface="Arial"/>
              </a:defRPr>
            </a:pPr>
            <a:r>
              <a:rPr dirty="0" err="1"/>
              <a:t>Вклад</a:t>
            </a:r>
            <a:r>
              <a:rPr dirty="0"/>
              <a:t> </a:t>
            </a:r>
            <a:r>
              <a:rPr dirty="0" err="1"/>
              <a:t>инфляции</a:t>
            </a:r>
            <a:r>
              <a:rPr dirty="0"/>
              <a:t> и </a:t>
            </a:r>
            <a:r>
              <a:rPr dirty="0" err="1"/>
              <a:t>ставки</a:t>
            </a:r>
            <a:r>
              <a:rPr dirty="0"/>
              <a:t> </a:t>
            </a:r>
            <a:r>
              <a:rPr dirty="0" err="1"/>
              <a:t>мал</a:t>
            </a:r>
            <a:r>
              <a:rPr dirty="0"/>
              <a:t> в </a:t>
            </a:r>
            <a:r>
              <a:rPr dirty="0" err="1"/>
              <a:t>выбранной</a:t>
            </a:r>
            <a:r>
              <a:rPr dirty="0"/>
              <a:t> </a:t>
            </a:r>
            <a:r>
              <a:rPr dirty="0" err="1"/>
              <a:t>спецификации</a:t>
            </a:r>
            <a:r>
              <a:rPr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06056" y="5546530"/>
            <a:ext cx="3401568" cy="438912"/>
          </a:xfrm>
          <a:prstGeom prst="rect">
            <a:avLst/>
          </a:prstGeom>
          <a:solidFill>
            <a:srgbClr val="FFFCF6"/>
          </a:solidFill>
          <a:ln w="7620">
            <a:solidFill>
              <a:srgbClr val="EED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64008" rIns="128016" rtlCol="0" anchor="ctr"/>
          <a:lstStyle/>
          <a:p>
            <a:pPr algn="ctr"/>
            <a:r>
              <a:rPr sz="1100" b="1" dirty="0">
                <a:solidFill>
                  <a:srgbClr val="CC5C29"/>
                </a:solidFill>
                <a:latin typeface="Arial"/>
              </a:rPr>
              <a:t>IRF/FEVD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превращают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коэффициенты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VAR в</a:t>
            </a:r>
            <a:endParaRPr lang="ru-RU" sz="1100" b="1" dirty="0">
              <a:solidFill>
                <a:srgbClr val="CC5C29"/>
              </a:solidFill>
              <a:latin typeface="Arial"/>
            </a:endParaRPr>
          </a:p>
          <a:p>
            <a:pPr algn="ctr"/>
            <a:r>
              <a:rPr sz="1100" b="1" dirty="0" err="1">
                <a:solidFill>
                  <a:srgbClr val="CC5C29"/>
                </a:solidFill>
                <a:latin typeface="Arial"/>
              </a:rPr>
              <a:t>экономическую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историю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о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реакции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на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шоки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>
            <a:extLst>
              <a:ext uri="{FF2B5EF4-FFF2-40B4-BE49-F238E27FC236}">
                <a16:creationId xmlns:a16="http://schemas.microsoft.com/office/drawing/2014/main" id="{E1A42BCD-6F48-09A9-73D8-E259B65B4B0E}"/>
              </a:ext>
            </a:extLst>
          </p:cNvPr>
          <p:cNvSpPr/>
          <p:nvPr/>
        </p:nvSpPr>
        <p:spPr>
          <a:xfrm>
            <a:off x="4672583" y="886968"/>
            <a:ext cx="7384005" cy="2977661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 dirty="0">
                <a:solidFill>
                  <a:srgbClr val="1D242C"/>
                </a:solidFill>
                <a:latin typeface="Arial"/>
              </a:rPr>
              <a:t>8. VECM/ECM-</a:t>
            </a:r>
            <a:r>
              <a:rPr sz="2500" b="1" dirty="0" err="1">
                <a:solidFill>
                  <a:srgbClr val="1D242C"/>
                </a:solidFill>
                <a:latin typeface="Arial"/>
              </a:rPr>
              <a:t>проверка</a:t>
            </a:r>
            <a:endParaRPr sz="2500" b="1" dirty="0">
              <a:solidFill>
                <a:srgbClr val="1D242C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649224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 dirty="0" err="1">
                <a:solidFill>
                  <a:srgbClr val="5B6978"/>
                </a:solidFill>
                <a:latin typeface="Arial"/>
              </a:rPr>
              <a:t>Долгосрочная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связь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как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диагностическое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дополнение</a:t>
            </a:r>
            <a:endParaRPr sz="1000" b="0" dirty="0">
              <a:solidFill>
                <a:srgbClr val="5B6978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135411" y="886968"/>
            <a:ext cx="4354293" cy="5669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32020" y="4024644"/>
            <a:ext cx="3383280" cy="2743200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1400" b="1" dirty="0" err="1">
                <a:solidFill>
                  <a:srgbClr val="16547E"/>
                </a:solidFill>
                <a:latin typeface="Arial"/>
              </a:rPr>
              <a:t>Зачем</a:t>
            </a:r>
            <a:r>
              <a:rPr sz="1400" b="1" dirty="0">
                <a:solidFill>
                  <a:srgbClr val="16547E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6547E"/>
                </a:solidFill>
                <a:latin typeface="Arial"/>
              </a:rPr>
              <a:t>это</a:t>
            </a:r>
            <a:r>
              <a:rPr sz="1400" b="1" dirty="0">
                <a:solidFill>
                  <a:srgbClr val="16547E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6547E"/>
                </a:solidFill>
                <a:latin typeface="Arial"/>
              </a:rPr>
              <a:t>нужно</a:t>
            </a:r>
            <a:endParaRPr sz="1400" b="1" dirty="0">
              <a:solidFill>
                <a:srgbClr val="16547E"/>
              </a:solidFill>
              <a:latin typeface="Arial"/>
            </a:endParaRP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rPr dirty="0" err="1"/>
              <a:t>Уровни</a:t>
            </a:r>
            <a:r>
              <a:rPr dirty="0"/>
              <a:t> </a:t>
            </a:r>
            <a:r>
              <a:rPr dirty="0" err="1"/>
              <a:t>рядов</a:t>
            </a:r>
            <a:r>
              <a:rPr dirty="0"/>
              <a:t> </a:t>
            </a:r>
            <a:r>
              <a:rPr dirty="0" err="1"/>
              <a:t>нестационарны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VECM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ECM-</a:t>
            </a:r>
            <a:r>
              <a:rPr dirty="0" err="1"/>
              <a:t>представление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rPr dirty="0" err="1"/>
              <a:t>Проверяется</a:t>
            </a:r>
            <a:r>
              <a:rPr dirty="0"/>
              <a:t>,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долгосрочная</a:t>
            </a:r>
            <a:r>
              <a:rPr dirty="0"/>
              <a:t> </a:t>
            </a:r>
            <a:r>
              <a:rPr dirty="0" err="1"/>
              <a:t>корректировка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ВВП, </a:t>
            </a:r>
            <a:r>
              <a:rPr dirty="0" err="1"/>
              <a:t>безработицей</a:t>
            </a:r>
            <a:r>
              <a:rPr dirty="0"/>
              <a:t>, CPI и </a:t>
            </a:r>
            <a:r>
              <a:rPr dirty="0" err="1"/>
              <a:t>ставкой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300">
                <a:solidFill>
                  <a:srgbClr val="1D242C"/>
                </a:solidFill>
                <a:latin typeface="Arial"/>
              </a:defRPr>
            </a:pPr>
            <a:r>
              <a:rPr dirty="0"/>
              <a:t>ECM-</a:t>
            </a:r>
            <a:r>
              <a:rPr dirty="0" err="1"/>
              <a:t>уравнение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Δu</a:t>
            </a:r>
            <a:r>
              <a:rPr dirty="0"/>
              <a:t> </a:t>
            </a:r>
            <a:r>
              <a:rPr dirty="0" err="1"/>
              <a:t>служит</a:t>
            </a:r>
            <a:r>
              <a:rPr dirty="0"/>
              <a:t> </a:t>
            </a:r>
            <a:r>
              <a:rPr dirty="0" err="1"/>
              <a:t>диагностикой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</a:t>
            </a:r>
            <a:r>
              <a:rPr dirty="0" err="1"/>
              <a:t>основную</a:t>
            </a:r>
            <a:r>
              <a:rPr dirty="0"/>
              <a:t> VAR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стационарных</a:t>
            </a:r>
            <a:r>
              <a:rPr dirty="0"/>
              <a:t> </a:t>
            </a:r>
            <a:r>
              <a:rPr dirty="0" err="1"/>
              <a:t>рядах</a:t>
            </a:r>
            <a:r>
              <a:rPr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16609" y="4084085"/>
            <a:ext cx="160020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r>
              <a:rPr sz="1900" b="1" dirty="0">
                <a:solidFill>
                  <a:srgbClr val="CC5C29"/>
                </a:solidFill>
                <a:latin typeface="Arial"/>
              </a:rPr>
              <a:t>0.051</a:t>
            </a:r>
          </a:p>
          <a:p>
            <a:pPr algn="ctr">
              <a:defRPr sz="850">
                <a:solidFill>
                  <a:srgbClr val="5B6978"/>
                </a:solidFill>
                <a:latin typeface="Arial"/>
              </a:defRPr>
            </a:pPr>
            <a:r>
              <a:rPr dirty="0"/>
              <a:t>p-value ECT в ECM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18118" y="4081293"/>
            <a:ext cx="14630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/>
            <a:r>
              <a:rPr sz="1900" b="1" dirty="0">
                <a:solidFill>
                  <a:srgbClr val="16547E"/>
                </a:solidFill>
                <a:latin typeface="Arial"/>
              </a:rPr>
              <a:t>p=0.023</a:t>
            </a:r>
          </a:p>
          <a:p>
            <a:pPr algn="ctr">
              <a:defRPr sz="850">
                <a:solidFill>
                  <a:srgbClr val="5B6978"/>
                </a:solidFill>
                <a:latin typeface="Arial"/>
              </a:defRPr>
            </a:pPr>
            <a:r>
              <a:rPr dirty="0" err="1"/>
              <a:t>значимая</a:t>
            </a:r>
            <a:r>
              <a:rPr dirty="0"/>
              <a:t> </a:t>
            </a:r>
            <a:r>
              <a:rPr dirty="0" err="1"/>
              <a:t>ставка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8316609" y="5064268"/>
            <a:ext cx="3264549" cy="1327388"/>
          </a:xfrm>
          <a:prstGeom prst="rect">
            <a:avLst/>
          </a:prstGeom>
          <a:solidFill>
            <a:srgbClr val="FFFCF6"/>
          </a:solidFill>
          <a:ln w="7620">
            <a:solidFill>
              <a:srgbClr val="EED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64008" rIns="128016" rtlCol="0" anchor="ctr"/>
          <a:lstStyle/>
          <a:p>
            <a:pPr algn="ctr"/>
            <a:r>
              <a:rPr sz="1100" b="1" dirty="0">
                <a:solidFill>
                  <a:srgbClr val="CC5C29"/>
                </a:solidFill>
                <a:latin typeface="Arial"/>
              </a:rPr>
              <a:t>VECM/ECM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закрывает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вопрос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о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долгосрочной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структуре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,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но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основной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вывод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остается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краткосрочным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.</a:t>
            </a: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E8A129D3-8418-3DD4-9080-E46B277F1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66902"/>
              </p:ext>
            </p:extLst>
          </p:nvPr>
        </p:nvGraphicFramePr>
        <p:xfrm>
          <a:off x="231216" y="1325634"/>
          <a:ext cx="4169664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130">
                  <a:extLst>
                    <a:ext uri="{9D8B030D-6E8A-4147-A177-3AD203B41FA5}">
                      <a16:colId xmlns:a16="http://schemas.microsoft.com/office/drawing/2014/main" val="3911623230"/>
                    </a:ext>
                  </a:extLst>
                </a:gridCol>
                <a:gridCol w="2857534">
                  <a:extLst>
                    <a:ext uri="{9D8B030D-6E8A-4147-A177-3AD203B41FA5}">
                      <a16:colId xmlns:a16="http://schemas.microsoft.com/office/drawing/2014/main" val="2232069516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Показатель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77407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Модель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VECM </a:t>
                      </a:r>
                      <a:r>
                        <a:rPr lang="ru-RU" sz="1400"/>
                        <a:t>как </a:t>
                      </a:r>
                      <a:r>
                        <a:rPr lang="en-US" sz="1400"/>
                        <a:t>ECM-</a:t>
                      </a:r>
                      <a:r>
                        <a:rPr lang="ru-RU" sz="1400"/>
                        <a:t>представление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432917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Переменные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/>
                        <a:t>ln_gdp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unrate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ln_cpi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fedfunds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09416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/>
                        <a:t>k_ar_diff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81952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coint_rank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73202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deterministic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07259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log-likelihood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939.837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85526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nobs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143.000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84549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0BCBE31-BF03-9F8C-1DFC-CC1935BE3AFD}"/>
              </a:ext>
            </a:extLst>
          </p:cNvPr>
          <p:cNvSpPr txBox="1"/>
          <p:nvPr/>
        </p:nvSpPr>
        <p:spPr>
          <a:xfrm>
            <a:off x="231216" y="950976"/>
            <a:ext cx="4169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Расчетные таблицы </a:t>
            </a:r>
            <a:r>
              <a:rPr lang="en-US" b="1" dirty="0"/>
              <a:t>Python: VECM/ECM</a:t>
            </a:r>
            <a:endParaRPr lang="ru-RU" b="1" dirty="0"/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5EBEE13-158C-586F-71E3-CB53BDE65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977162"/>
              </p:ext>
            </p:extLst>
          </p:nvPr>
        </p:nvGraphicFramePr>
        <p:xfrm>
          <a:off x="231216" y="4229843"/>
          <a:ext cx="416966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491">
                  <a:extLst>
                    <a:ext uri="{9D8B030D-6E8A-4147-A177-3AD203B41FA5}">
                      <a16:colId xmlns:a16="http://schemas.microsoft.com/office/drawing/2014/main" val="1118103340"/>
                    </a:ext>
                  </a:extLst>
                </a:gridCol>
                <a:gridCol w="1608047">
                  <a:extLst>
                    <a:ext uri="{9D8B030D-6E8A-4147-A177-3AD203B41FA5}">
                      <a16:colId xmlns:a16="http://schemas.microsoft.com/office/drawing/2014/main" val="1722740543"/>
                    </a:ext>
                  </a:extLst>
                </a:gridCol>
                <a:gridCol w="1664127">
                  <a:extLst>
                    <a:ext uri="{9D8B030D-6E8A-4147-A177-3AD203B41FA5}">
                      <a16:colId xmlns:a16="http://schemas.microsoft.com/office/drawing/2014/main" val="560843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alpha_adjustment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 err="1"/>
                        <a:t>beta_cointegration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74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ln_gdp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-0.007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9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unrate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1.330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0.029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271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ln_cpi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-0.847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58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fedfunds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-2.018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0.041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54036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02180D5-AA72-74FE-9CE6-7E2A7EB05949}"/>
              </a:ext>
            </a:extLst>
          </p:cNvPr>
          <p:cNvSpPr txBox="1"/>
          <p:nvPr/>
        </p:nvSpPr>
        <p:spPr>
          <a:xfrm>
            <a:off x="231217" y="3866907"/>
            <a:ext cx="4169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VECM alpha/beta</a:t>
            </a:r>
            <a:endParaRPr lang="ru-RU" b="1" dirty="0"/>
          </a:p>
        </p:txBody>
      </p:sp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4CB19CB2-44C2-7825-00EF-FBD631B66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324726"/>
              </p:ext>
            </p:extLst>
          </p:nvPr>
        </p:nvGraphicFramePr>
        <p:xfrm>
          <a:off x="4732019" y="1325634"/>
          <a:ext cx="7164605" cy="2426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921">
                  <a:extLst>
                    <a:ext uri="{9D8B030D-6E8A-4147-A177-3AD203B41FA5}">
                      <a16:colId xmlns:a16="http://schemas.microsoft.com/office/drawing/2014/main" val="2332584826"/>
                    </a:ext>
                  </a:extLst>
                </a:gridCol>
                <a:gridCol w="1432921">
                  <a:extLst>
                    <a:ext uri="{9D8B030D-6E8A-4147-A177-3AD203B41FA5}">
                      <a16:colId xmlns:a16="http://schemas.microsoft.com/office/drawing/2014/main" val="1786900458"/>
                    </a:ext>
                  </a:extLst>
                </a:gridCol>
                <a:gridCol w="1432921">
                  <a:extLst>
                    <a:ext uri="{9D8B030D-6E8A-4147-A177-3AD203B41FA5}">
                      <a16:colId xmlns:a16="http://schemas.microsoft.com/office/drawing/2014/main" val="1970189637"/>
                    </a:ext>
                  </a:extLst>
                </a:gridCol>
                <a:gridCol w="1432921">
                  <a:extLst>
                    <a:ext uri="{9D8B030D-6E8A-4147-A177-3AD203B41FA5}">
                      <a16:colId xmlns:a16="http://schemas.microsoft.com/office/drawing/2014/main" val="695384316"/>
                    </a:ext>
                  </a:extLst>
                </a:gridCol>
                <a:gridCol w="1432921">
                  <a:extLst>
                    <a:ext uri="{9D8B030D-6E8A-4147-A177-3AD203B41FA5}">
                      <a16:colId xmlns:a16="http://schemas.microsoft.com/office/drawing/2014/main" val="3513373761"/>
                    </a:ext>
                  </a:extLst>
                </a:gridCol>
              </a:tblGrid>
              <a:tr h="346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Параметр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coef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std err HAC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006847"/>
                  </a:ext>
                </a:extLst>
              </a:tr>
              <a:tr h="346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-6.824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3.818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-1.787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0.074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5410042"/>
                  </a:ext>
                </a:extLst>
              </a:tr>
              <a:tr h="346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ECT_L1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1.330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0.681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1.954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0.051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058261"/>
                  </a:ext>
                </a:extLst>
              </a:tr>
              <a:tr h="346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d_ln_gdp_L1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-60.611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35.771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-1.694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0.090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9553691"/>
                  </a:ext>
                </a:extLst>
              </a:tr>
              <a:tr h="346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d_unrate_L1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-0.868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0.471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-1.842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0.065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84462"/>
                  </a:ext>
                </a:extLst>
              </a:tr>
              <a:tr h="346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d_ln_cpi_L1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-10.982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8.383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-1.310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0.190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994181"/>
                  </a:ext>
                </a:extLst>
              </a:tr>
              <a:tr h="346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d_fedfunds_L1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-0.246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0.108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-2.272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0.023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02185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F780F7B-9D70-F43F-F8DA-7CCB17D82074}"/>
              </a:ext>
            </a:extLst>
          </p:cNvPr>
          <p:cNvSpPr txBox="1"/>
          <p:nvPr/>
        </p:nvSpPr>
        <p:spPr>
          <a:xfrm>
            <a:off x="4732018" y="958211"/>
            <a:ext cx="7164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ECM equation for </a:t>
            </a:r>
            <a:r>
              <a:rPr lang="el-GR" b="1" dirty="0"/>
              <a:t>Δ</a:t>
            </a:r>
            <a:r>
              <a:rPr lang="en-US" b="1" dirty="0"/>
              <a:t>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>
                <a:solidFill>
                  <a:srgbClr val="1D242C"/>
                </a:solidFill>
                <a:latin typeface="Arial"/>
              </a:rPr>
              <a:t>9. Кластеризация стран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04087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 dirty="0" err="1">
                <a:solidFill>
                  <a:srgbClr val="5B6978"/>
                </a:solidFill>
                <a:latin typeface="Arial"/>
              </a:rPr>
              <a:t>Сравнение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не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уровней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, а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формы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динамики</a:t>
            </a:r>
            <a:endParaRPr sz="1000" b="0" dirty="0">
              <a:solidFill>
                <a:srgbClr val="5B6978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6172200" cy="52578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4_cluster_average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95121"/>
            <a:ext cx="5952743" cy="3495189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58952" y="5888736"/>
            <a:ext cx="5843016" cy="201168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Средние траектории кластеров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960120"/>
            <a:ext cx="4251960" cy="3429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3_distanc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965" y="1069848"/>
            <a:ext cx="3338349" cy="2916936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59752" y="4059936"/>
            <a:ext cx="3922776" cy="201168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Матрица расстояний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4617720"/>
            <a:ext cx="4069080" cy="960120"/>
          </a:xfrm>
          <a:prstGeom prst="rect">
            <a:avLst/>
          </a:prstGeom>
          <a:noFill/>
        </p:spPr>
        <p:txBody>
          <a:bodyPr wrap="square" lIns="73152" tIns="36576" rIns="73152" bIns="18288">
            <a:normAutofit lnSpcReduction="10000"/>
          </a:bodyPr>
          <a:lstStyle/>
          <a:p>
            <a:pPr>
              <a:spcAft>
                <a:spcPts val="600"/>
              </a:spcAft>
              <a:defRPr sz="1050">
                <a:solidFill>
                  <a:srgbClr val="1D242C"/>
                </a:solidFill>
                <a:latin typeface="Arial"/>
              </a:defRPr>
            </a:pPr>
            <a:r>
              <a:t>22 страны, 2010-2023, показатели World Bank.</a:t>
            </a:r>
          </a:p>
          <a:p>
            <a:pPr>
              <a:spcAft>
                <a:spcPts val="600"/>
              </a:spcAft>
              <a:defRPr sz="1050">
                <a:solidFill>
                  <a:srgbClr val="1D242C"/>
                </a:solidFill>
                <a:latin typeface="Arial"/>
              </a:defRPr>
            </a:pPr>
            <a:r>
              <a:t>Сравнивались стандартизованные динамики: рост ВВП, безработица, инфляция, реальная ставка.</a:t>
            </a:r>
          </a:p>
          <a:p>
            <a:pPr>
              <a:spcAft>
                <a:spcPts val="600"/>
              </a:spcAft>
              <a:defRPr sz="1050">
                <a:solidFill>
                  <a:srgbClr val="1D242C"/>
                </a:solidFill>
                <a:latin typeface="Arial"/>
              </a:defRPr>
            </a:pPr>
            <a:r>
              <a:t>Использованы dynamic Euclidean, correlation distance и summary features.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5779008"/>
            <a:ext cx="4251960" cy="438912"/>
          </a:xfrm>
          <a:prstGeom prst="rect">
            <a:avLst/>
          </a:prstGeom>
          <a:solidFill>
            <a:srgbClr val="FFFCF6"/>
          </a:solidFill>
          <a:ln w="7620">
            <a:solidFill>
              <a:srgbClr val="EED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64008" rIns="128016" rtlCol="0" anchor="ctr"/>
          <a:lstStyle/>
          <a:p>
            <a:pPr algn="ctr"/>
            <a:r>
              <a:rPr sz="1100" b="1">
                <a:solidFill>
                  <a:srgbClr val="CC5C29"/>
                </a:solidFill>
                <a:latin typeface="Arial"/>
              </a:rPr>
              <a:t>Кластеризация отвечает на вопрос: какие страны движутся похоже, даже если уровни разные.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>
                <a:solidFill>
                  <a:srgbClr val="1D242C"/>
                </a:solidFill>
                <a:latin typeface="Arial"/>
              </a:rPr>
              <a:t>10. Результаты кластеризации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>
                <a:solidFill>
                  <a:srgbClr val="5B6978"/>
                </a:solidFill>
                <a:latin typeface="Arial"/>
              </a:rPr>
              <a:t>k-means и иерархический подход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4983480" cy="452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1_cluster_p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83656"/>
            <a:ext cx="4764024" cy="3386599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58952" y="5157216"/>
            <a:ext cx="4654296" cy="201168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800" b="0" dirty="0">
                <a:solidFill>
                  <a:srgbClr val="5B6978"/>
                </a:solidFill>
                <a:latin typeface="Arial"/>
              </a:rPr>
              <a:t>PCA-</a:t>
            </a:r>
            <a:r>
              <a:rPr sz="800" b="0" dirty="0" err="1">
                <a:solidFill>
                  <a:srgbClr val="5B6978"/>
                </a:solidFill>
                <a:latin typeface="Arial"/>
              </a:rPr>
              <a:t>проекция</a:t>
            </a:r>
            <a:r>
              <a:rPr sz="800" b="0" dirty="0">
                <a:solidFill>
                  <a:srgbClr val="5B6978"/>
                </a:solidFill>
                <a:latin typeface="Arial"/>
              </a:rPr>
              <a:t> k-means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8400" y="960120"/>
            <a:ext cx="5349240" cy="452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2_hierarchical_dendr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647111"/>
            <a:ext cx="5129784" cy="2859690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12992" y="5157216"/>
            <a:ext cx="5020056" cy="201168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Иерархическая кластеризация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650992"/>
            <a:ext cx="10241280" cy="548640"/>
          </a:xfrm>
          <a:prstGeom prst="rect">
            <a:avLst/>
          </a:prstGeom>
          <a:noFill/>
        </p:spPr>
        <p:txBody>
          <a:bodyPr wrap="square" lIns="73152" tIns="36576" rIns="73152" bIns="18288">
            <a:normAutofit fontScale="85000" lnSpcReduction="20000"/>
          </a:bodyPr>
          <a:lstStyle/>
          <a:p>
            <a:pPr>
              <a:spcAft>
                <a:spcPts val="600"/>
              </a:spcAft>
              <a:defRPr sz="1050">
                <a:solidFill>
                  <a:srgbClr val="1D242C"/>
                </a:solidFill>
                <a:latin typeface="Arial"/>
              </a:defRPr>
            </a:pPr>
            <a:r>
              <a:rPr dirty="0"/>
              <a:t>k-means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интерпретировать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центроиды</a:t>
            </a:r>
            <a:r>
              <a:rPr dirty="0"/>
              <a:t> и </a:t>
            </a:r>
            <a:r>
              <a:rPr dirty="0" err="1"/>
              <a:t>типичного</a:t>
            </a:r>
            <a:r>
              <a:rPr dirty="0"/>
              <a:t> </a:t>
            </a:r>
            <a:r>
              <a:rPr dirty="0" err="1"/>
              <a:t>представителя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050">
                <a:solidFill>
                  <a:srgbClr val="1D242C"/>
                </a:solidFill>
                <a:latin typeface="Arial"/>
              </a:defRPr>
            </a:pPr>
            <a:r>
              <a:rPr dirty="0" err="1"/>
              <a:t>Иерархическая</a:t>
            </a:r>
            <a:r>
              <a:rPr dirty="0"/>
              <a:t> </a:t>
            </a:r>
            <a:r>
              <a:rPr dirty="0" err="1"/>
              <a:t>кластеризация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 </a:t>
            </a:r>
            <a:r>
              <a:rPr dirty="0" err="1"/>
              <a:t>близости</a:t>
            </a:r>
            <a:r>
              <a:rPr dirty="0"/>
              <a:t> </a:t>
            </a:r>
            <a:r>
              <a:rPr dirty="0" err="1"/>
              <a:t>стран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050">
                <a:solidFill>
                  <a:srgbClr val="1D242C"/>
                </a:solidFill>
                <a:latin typeface="Arial"/>
              </a:defRPr>
            </a:pP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подхода</a:t>
            </a:r>
            <a:r>
              <a:rPr dirty="0"/>
              <a:t> </a:t>
            </a:r>
            <a:r>
              <a:rPr dirty="0" err="1"/>
              <a:t>дают</a:t>
            </a:r>
            <a:r>
              <a:rPr dirty="0"/>
              <a:t> </a:t>
            </a:r>
            <a:r>
              <a:rPr dirty="0" err="1"/>
              <a:t>разделение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две</a:t>
            </a:r>
            <a:r>
              <a:rPr dirty="0"/>
              <a:t> </a:t>
            </a:r>
            <a:r>
              <a:rPr dirty="0" err="1"/>
              <a:t>содержательно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8128" y="5660136"/>
            <a:ext cx="5135879" cy="539496"/>
          </a:xfrm>
          <a:prstGeom prst="rect">
            <a:avLst/>
          </a:prstGeom>
          <a:solidFill>
            <a:srgbClr val="FFFCF6"/>
          </a:solidFill>
          <a:ln w="7620">
            <a:solidFill>
              <a:srgbClr val="EED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64008" rIns="128016" rtlCol="0" anchor="ctr"/>
          <a:lstStyle/>
          <a:p>
            <a:pPr algn="ctr"/>
            <a:r>
              <a:rPr sz="1100" b="1" dirty="0" err="1">
                <a:solidFill>
                  <a:srgbClr val="CC5C29"/>
                </a:solidFill>
                <a:latin typeface="Arial"/>
              </a:rPr>
              <a:t>Сравнение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методов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снижает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риск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принять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артефакт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одного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алгоритма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за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экономический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C5C29"/>
                </a:solidFill>
                <a:latin typeface="Arial"/>
              </a:rPr>
              <a:t>вывод</a:t>
            </a:r>
            <a:r>
              <a:rPr sz="1100" b="1" dirty="0">
                <a:solidFill>
                  <a:srgbClr val="CC5C2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>
                <a:solidFill>
                  <a:srgbClr val="1D242C"/>
                </a:solidFill>
                <a:latin typeface="Arial"/>
              </a:rPr>
              <a:t>11. Карта и смысл кластеров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>
                <a:solidFill>
                  <a:srgbClr val="5B6978"/>
                </a:solidFill>
                <a:latin typeface="Arial"/>
              </a:rPr>
              <a:t>Группы стран с похожей макродинамикой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12</a:t>
            </a:r>
          </a:p>
        </p:txBody>
      </p:sp>
      <p:pic>
        <p:nvPicPr>
          <p:cNvPr id="8" name="Picture 7" descr="10_world_map_kmeans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6" y="1306198"/>
            <a:ext cx="7278625" cy="4070474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194580"/>
              </p:ext>
            </p:extLst>
          </p:nvPr>
        </p:nvGraphicFramePr>
        <p:xfrm>
          <a:off x="8138160" y="1234440"/>
          <a:ext cx="363474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Кластер</a:t>
                      </a:r>
                    </a:p>
                  </a:txBody>
                  <a:tcPr marL="45720" marR="45720" marT="27432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Стран</a:t>
                      </a:r>
                    </a:p>
                  </a:txBody>
                  <a:tcPr marL="45720" marR="45720" marT="27432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Рост ВВП</a:t>
                      </a:r>
                    </a:p>
                  </a:txBody>
                  <a:tcPr marL="45720" marR="45720" marT="27432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Безработица</a:t>
                      </a:r>
                    </a:p>
                  </a:txBody>
                  <a:tcPr marL="45720" marR="45720" marT="27432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Реальная ставка</a:t>
                      </a:r>
                    </a:p>
                  </a:txBody>
                  <a:tcPr marL="45720" marR="45720" marT="27432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1: умеренные ставки и ниже безработица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3.22%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rPr dirty="0"/>
                        <a:t>5.82%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rPr dirty="0"/>
                        <a:t>2.56%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2: высокие реальные ставки и напряженный рынок труда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3.31%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t>7.23%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D242C"/>
                          </a:solidFill>
                          <a:latin typeface="Arial"/>
                        </a:defRPr>
                      </a:pPr>
                      <a:r>
                        <a:rPr dirty="0"/>
                        <a:t>6.56%</a:t>
                      </a:r>
                    </a:p>
                  </a:txBody>
                  <a:tcPr marL="45720" marR="45720" marT="27432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75320" y="2971800"/>
            <a:ext cx="3154680" cy="1508760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D242C"/>
                </a:solidFill>
                <a:latin typeface="Arial"/>
              </a:defRPr>
            </a:pPr>
            <a:r>
              <a:t>Кластер 1: умеренные ставки и ниже безработица.</a:t>
            </a:r>
          </a:p>
          <a:p>
            <a:pPr>
              <a:spcAft>
                <a:spcPts val="600"/>
              </a:spcAft>
              <a:defRPr sz="1150">
                <a:solidFill>
                  <a:srgbClr val="1D242C"/>
                </a:solidFill>
                <a:latin typeface="Arial"/>
              </a:defRPr>
            </a:pPr>
            <a:r>
              <a:t>Кластер 2: высокие реальные ставки и более напряженный рынок труда.</a:t>
            </a:r>
          </a:p>
          <a:p>
            <a:pPr>
              <a:spcAft>
                <a:spcPts val="600"/>
              </a:spcAft>
              <a:defRPr sz="1150">
                <a:solidFill>
                  <a:srgbClr val="1D242C"/>
                </a:solidFill>
                <a:latin typeface="Arial"/>
              </a:defRPr>
            </a:pPr>
            <a:r>
              <a:t>Для прогноза внешних шоков страну логичнее сравнивать с ее кластером.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" y="5771308"/>
            <a:ext cx="10881360" cy="438912"/>
          </a:xfrm>
          <a:prstGeom prst="rect">
            <a:avLst/>
          </a:prstGeom>
          <a:solidFill>
            <a:srgbClr val="FFFCF6"/>
          </a:solidFill>
          <a:ln w="7620">
            <a:solidFill>
              <a:srgbClr val="EED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64008" rIns="128016" rtlCol="0" anchor="ctr"/>
          <a:lstStyle/>
          <a:p>
            <a:pPr algn="ctr"/>
            <a:r>
              <a:rPr sz="1100" b="1">
                <a:solidFill>
                  <a:srgbClr val="CC5C29"/>
                </a:solidFill>
                <a:latin typeface="Arial"/>
              </a:rPr>
              <a:t>Карта переводит численную кластеризацию в понятную географическую интерпретацию.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500" b="1">
                <a:solidFill>
                  <a:srgbClr val="1D242C"/>
                </a:solidFill>
                <a:latin typeface="Arial"/>
              </a:rPr>
              <a:t>12. Типичный представитель и 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04087"/>
            <a:ext cx="109728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b="0" dirty="0" err="1">
                <a:solidFill>
                  <a:srgbClr val="5B6978"/>
                </a:solidFill>
                <a:latin typeface="Arial"/>
              </a:rPr>
              <a:t>Перу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как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представитель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второго</a:t>
            </a:r>
            <a:r>
              <a:rPr sz="1000" b="0" dirty="0">
                <a:solidFill>
                  <a:srgbClr val="5B6978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B6978"/>
                </a:solidFill>
                <a:latin typeface="Arial"/>
              </a:rPr>
              <a:t>кластера</a:t>
            </a:r>
            <a:endParaRPr sz="1000" b="0" dirty="0">
              <a:solidFill>
                <a:srgbClr val="5B6978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89611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Временные ряды и кластеризация макродинамики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rial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6172200" cy="452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5_representative_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29361"/>
            <a:ext cx="5952743" cy="3495189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58952" y="5157216"/>
            <a:ext cx="5843016" cy="201168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Макродинамика представителя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960120"/>
            <a:ext cx="4206240" cy="452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6_representative_okun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553874"/>
            <a:ext cx="3986784" cy="3046163"/>
          </a:xfrm>
          <a:prstGeom prst="rect">
            <a:avLst/>
          </a:prstGeom>
          <a:ln w="6350">
            <a:solidFill>
              <a:srgbClr val="D7DEE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59752" y="5157216"/>
            <a:ext cx="3877056" cy="201168"/>
          </a:xfrm>
          <a:prstGeom prst="rect">
            <a:avLst/>
          </a:prstGeom>
          <a:noFill/>
        </p:spPr>
        <p:txBody>
          <a:bodyPr wrap="square" lIns="73152" tIns="36576" rIns="73152" bIns="18288">
            <a:normAutofit/>
          </a:bodyPr>
          <a:lstStyle/>
          <a:p>
            <a:r>
              <a:rPr sz="800" b="0">
                <a:solidFill>
                  <a:srgbClr val="5B6978"/>
                </a:solidFill>
                <a:latin typeface="Arial"/>
              </a:rPr>
              <a:t>Оукен для представителя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00194"/>
            <a:ext cx="5824728" cy="566928"/>
          </a:xfrm>
          <a:prstGeom prst="rect">
            <a:avLst/>
          </a:prstGeom>
          <a:noFill/>
        </p:spPr>
        <p:txBody>
          <a:bodyPr wrap="square" lIns="73152" tIns="36576" rIns="73152" bIns="18288">
            <a:normAutofit fontScale="85000" lnSpcReduction="20000"/>
          </a:bodyPr>
          <a:lstStyle/>
          <a:p>
            <a:pPr>
              <a:spcAft>
                <a:spcPts val="600"/>
              </a:spcAft>
              <a:defRPr sz="1050">
                <a:solidFill>
                  <a:srgbClr val="1D242C"/>
                </a:solidFill>
                <a:latin typeface="Arial"/>
              </a:defRPr>
            </a:pPr>
            <a:r>
              <a:rPr dirty="0" err="1"/>
              <a:t>Для</a:t>
            </a:r>
            <a:r>
              <a:rPr dirty="0"/>
              <a:t> США </a:t>
            </a:r>
            <a:r>
              <a:rPr dirty="0" err="1"/>
              <a:t>коэффициент</a:t>
            </a:r>
            <a:r>
              <a:rPr dirty="0"/>
              <a:t> </a:t>
            </a:r>
            <a:r>
              <a:rPr dirty="0" err="1"/>
              <a:t>Оукена</a:t>
            </a:r>
            <a:r>
              <a:rPr dirty="0"/>
              <a:t> в ADL </a:t>
            </a:r>
            <a:r>
              <a:rPr dirty="0" err="1"/>
              <a:t>около</a:t>
            </a:r>
            <a:r>
              <a:rPr dirty="0"/>
              <a:t> -0.106;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Перу</a:t>
            </a:r>
            <a:r>
              <a:rPr dirty="0"/>
              <a:t> </a:t>
            </a:r>
            <a:r>
              <a:rPr dirty="0" err="1"/>
              <a:t>около</a:t>
            </a:r>
            <a:r>
              <a:rPr dirty="0"/>
              <a:t> -0.227.</a:t>
            </a:r>
          </a:p>
          <a:p>
            <a:pPr>
              <a:spcAft>
                <a:spcPts val="600"/>
              </a:spcAft>
              <a:defRPr sz="1050">
                <a:solidFill>
                  <a:srgbClr val="1D242C"/>
                </a:solidFill>
                <a:latin typeface="Arial"/>
              </a:defRPr>
            </a:pPr>
            <a:r>
              <a:rPr dirty="0" err="1"/>
              <a:t>Знак</a:t>
            </a:r>
            <a:r>
              <a:rPr dirty="0"/>
              <a:t> </a:t>
            </a:r>
            <a:r>
              <a:rPr dirty="0" err="1"/>
              <a:t>совпадает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сила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 и </a:t>
            </a:r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денежно-кредитной</a:t>
            </a:r>
            <a:r>
              <a:rPr dirty="0"/>
              <a:t> </a:t>
            </a:r>
            <a:r>
              <a:rPr dirty="0" err="1"/>
              <a:t>политики</a:t>
            </a:r>
            <a:r>
              <a:rPr dirty="0"/>
              <a:t> </a:t>
            </a:r>
            <a:r>
              <a:rPr dirty="0" err="1"/>
              <a:t>различаются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050">
                <a:solidFill>
                  <a:srgbClr val="1D242C"/>
                </a:solidFill>
                <a:latin typeface="Arial"/>
              </a:defRPr>
            </a:pPr>
            <a:r>
              <a:rPr dirty="0" err="1"/>
              <a:t>Итог</a:t>
            </a:r>
            <a:r>
              <a:rPr dirty="0"/>
              <a:t>: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страны</a:t>
            </a:r>
            <a:r>
              <a:rPr dirty="0"/>
              <a:t> и </a:t>
            </a:r>
            <a:r>
              <a:rPr dirty="0" err="1"/>
              <a:t>кластеризация</a:t>
            </a:r>
            <a:r>
              <a:rPr dirty="0"/>
              <a:t> </a:t>
            </a:r>
            <a:r>
              <a:rPr dirty="0" err="1"/>
              <a:t>стран</a:t>
            </a:r>
            <a:r>
              <a:rPr dirty="0"/>
              <a:t> </a:t>
            </a:r>
            <a:r>
              <a:rPr dirty="0" err="1"/>
              <a:t>дополняют</a:t>
            </a:r>
            <a:r>
              <a:rPr dirty="0"/>
              <a:t> </a:t>
            </a:r>
            <a:r>
              <a:rPr dirty="0" err="1"/>
              <a:t>друг</a:t>
            </a:r>
            <a:r>
              <a:rPr dirty="0"/>
              <a:t> </a:t>
            </a:r>
            <a:r>
              <a:rPr dirty="0" err="1"/>
              <a:t>друга</a:t>
            </a:r>
            <a:r>
              <a:rPr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04888" y="5678424"/>
            <a:ext cx="3986784" cy="588698"/>
          </a:xfrm>
          <a:prstGeom prst="rect">
            <a:avLst/>
          </a:prstGeom>
          <a:solidFill>
            <a:srgbClr val="FFFCF6"/>
          </a:solidFill>
          <a:ln w="7620">
            <a:solidFill>
              <a:srgbClr val="EED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64008" rIns="128016" rtlCol="0" anchor="ctr"/>
          <a:lstStyle/>
          <a:p>
            <a:pPr algn="ctr"/>
            <a:r>
              <a:rPr sz="1100" b="1">
                <a:solidFill>
                  <a:srgbClr val="CC5C29"/>
                </a:solidFill>
                <a:latin typeface="Arial"/>
              </a:rPr>
              <a:t>Главный вывод: реакцию страны на шок лучше прогнозировать через ее собственную модель и похожие страны.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1095</Words>
  <Application>Microsoft Office PowerPoint</Application>
  <PresentationFormat>Широкоэкранный</PresentationFormat>
  <Paragraphs>233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Временные ряды и кластеризация макроэкономической динамики</dc:title>
  <dc:subject>Презентация по проекту анализа макроэкономических временных рядов</dc:subject>
  <dc:creator>Автор проекта</dc:creator>
  <cp:keywords/>
  <dc:description>generated using python-pptx</dc:description>
  <cp:lastModifiedBy>Гибельгаус Кирилл Сергеевич</cp:lastModifiedBy>
  <cp:revision>2</cp:revision>
  <dcterms:created xsi:type="dcterms:W3CDTF">2013-01-27T09:14:16Z</dcterms:created>
  <dcterms:modified xsi:type="dcterms:W3CDTF">2026-06-03T23:48:36Z</dcterms:modified>
  <cp:category/>
</cp:coreProperties>
</file>